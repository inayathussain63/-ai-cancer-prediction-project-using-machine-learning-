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 Risk Assessment ML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Makalu - Sprint 1-3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Makalu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Project: AI-Powered Health Risk Assessment</a:t>
            </a:r>
          </a:p>
          <a:p>
            <a:pPr>
              <a:defRPr sz="1800"/>
            </a:pPr>
            <a:r>
              <a:t>Objective: Predict patient health risk levels using ML</a:t>
            </a:r>
          </a:p>
          <a:p>
            <a:pPr>
              <a:defRPr sz="1800"/>
            </a:pPr>
            <a:r>
              <a:t>Duration: 3 Sprints (Data → Models → Optimization)</a:t>
            </a:r>
          </a:p>
          <a:p>
            <a:pPr>
              <a:defRPr sz="1800"/>
            </a:pPr>
            <a:r>
              <a:t>Deliverable: Production-ready risk prediction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Manual health risk assessment is time-consuming</a:t>
            </a:r>
          </a:p>
          <a:p>
            <a:pPr>
              <a:defRPr sz="1800"/>
            </a:pPr>
            <a:r>
              <a:t>Solution: Automated ML-based risk prediction</a:t>
            </a:r>
          </a:p>
          <a:p>
            <a:pPr>
              <a:defRPr sz="1800"/>
            </a:pPr>
            <a:r>
              <a:t>Impact: Faster, more consistent risk evaluation</a:t>
            </a:r>
          </a:p>
          <a:p>
            <a:pPr>
              <a:defRPr sz="1800"/>
            </a:pPr>
            <a:r>
              <a:t>Stakeholders: Healthcare providers, insurance companies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Journey: Sprint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Generated structured synthetic health dataset (1,000 patients)</a:t>
            </a:r>
          </a:p>
          <a:p>
            <a:pPr>
              <a:defRPr sz="1800"/>
            </a:pPr>
            <a:r>
              <a:t>Features: Demographics, vitals, lab results, lifestyle</a:t>
            </a:r>
          </a:p>
          <a:p>
            <a:pPr>
              <a:defRPr sz="1800"/>
            </a:pPr>
            <a:r>
              <a:t>21 total features including Risk_Score target</a:t>
            </a:r>
          </a:p>
          <a:p>
            <a:pPr>
              <a:defRPr sz="1800"/>
            </a:pPr>
            <a:r>
              <a:t>Realistic distributions ensuring non-linear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Handled missing values (imputation strategies)</a:t>
            </a:r>
          </a:p>
          <a:p>
            <a:pPr>
              <a:defRPr sz="1800"/>
            </a:pPr>
            <a:r>
              <a:t>Removed duplicate records</a:t>
            </a:r>
          </a:p>
          <a:p>
            <a:pPr>
              <a:defRPr sz="1800"/>
            </a:pPr>
            <a:r>
              <a:t>Detected and treated outliers</a:t>
            </a:r>
          </a:p>
          <a:p>
            <a:pPr>
              <a:defRPr sz="1800"/>
            </a:pPr>
            <a:r>
              <a:t>Standardized data formats and 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Age distribution: 18-90 years (mean: 54)</a:t>
            </a:r>
          </a:p>
          <a:p>
            <a:pPr>
              <a:defRPr sz="1800"/>
            </a:pPr>
            <a:r>
              <a:t>BMI range: 18-35 (normal to obese)</a:t>
            </a:r>
          </a:p>
          <a:p>
            <a:pPr>
              <a:defRPr sz="1800"/>
            </a:pPr>
            <a:r>
              <a:t>Risk Score: Calculated based on multi-factor interactions</a:t>
            </a:r>
          </a:p>
          <a:p>
            <a:pPr>
              <a:defRPr sz="1800"/>
            </a:pPr>
            <a:r>
              <a:t>Strong correlations: Age, smoking, and chronic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Created binary target: High_Risk (above median)</a:t>
            </a:r>
          </a:p>
          <a:p>
            <a:pPr>
              <a:defRPr sz="1800"/>
            </a:pPr>
            <a:r>
              <a:t>Encoded categorical variables (7 features)</a:t>
            </a:r>
          </a:p>
          <a:p>
            <a:pPr>
              <a:defRPr sz="1800"/>
            </a:pPr>
            <a:r>
              <a:t>Scaled numerical features (StandardScaler)</a:t>
            </a:r>
          </a:p>
          <a:p>
            <a:pPr>
              <a:defRPr sz="1800"/>
            </a:pPr>
            <a:r>
              <a:t>Final feature set: 20 engineered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Development: Sprint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Algorithms tested: 5 different models</a:t>
            </a:r>
          </a:p>
          <a:p>
            <a:pPr>
              <a:defRPr sz="1800"/>
            </a:pPr>
            <a:r>
              <a:t>Train/Test split: 80/20 stratified</a:t>
            </a:r>
          </a:p>
          <a:p>
            <a:pPr>
              <a:defRPr sz="1800"/>
            </a:pPr>
            <a:r>
              <a:t>Evaluation metrics: Accuracy, Precision, Recall, F1, AUC</a:t>
            </a:r>
          </a:p>
          <a:p>
            <a:pPr>
              <a:defRPr sz="1800"/>
            </a:pPr>
            <a:r>
              <a:t>Cross-validation: 5-fold CV (Enhanced)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Random Forest Classifier</a:t>
            </a:r>
          </a:p>
          <a:p>
            <a:pPr>
              <a:defRPr sz="1800"/>
            </a:pPr>
            <a:r>
              <a:t>2. Gradient Boosting Classifier</a:t>
            </a:r>
          </a:p>
          <a:p>
            <a:pPr>
              <a:defRPr sz="1800"/>
            </a:pPr>
            <a:r>
              <a:t>3. Logistic Regression</a:t>
            </a:r>
          </a:p>
          <a:p>
            <a:pPr>
              <a:defRPr sz="1800"/>
            </a:pPr>
            <a:r>
              <a:t>4. Support Vector Machine (SVM)</a:t>
            </a:r>
          </a:p>
          <a:p>
            <a:pPr>
              <a:defRPr sz="1800"/>
            </a:pPr>
            <a:r>
              <a:t>5. K-Nearest Neighbors (KNN)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Random Forest: 87.5% accuracy (BEST)</a:t>
            </a:r>
          </a:p>
          <a:p>
            <a:pPr>
              <a:defRPr sz="1800"/>
            </a:pPr>
            <a:r>
              <a:t>Gradient Boosting: ~80% accuracy</a:t>
            </a:r>
          </a:p>
          <a:p>
            <a:pPr>
              <a:defRPr sz="1800"/>
            </a:pPr>
            <a:r>
              <a:t>Logistic Regression: ~80% accuracy</a:t>
            </a:r>
          </a:p>
          <a:p>
            <a:pPr>
              <a:defRPr sz="1800"/>
            </a:pPr>
            <a:r>
              <a:t>SVM: ~80% accuracy</a:t>
            </a:r>
          </a:p>
          <a:p>
            <a:pPr>
              <a:defRPr sz="1800"/>
            </a:pPr>
            <a:r>
              <a:t>KNN: ~80%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Random Forest Won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Superior ability to capture non-linear relationships</a:t>
            </a:r>
          </a:p>
          <a:p>
            <a:pPr>
              <a:defRPr sz="1800"/>
            </a:pPr>
            <a:r>
              <a:t>Robustness to complex multi-factor interactions</a:t>
            </a:r>
          </a:p>
          <a:p>
            <a:pPr>
              <a:defRPr sz="1800"/>
            </a:pPr>
            <a:r>
              <a:t>Effective handling of mixed feature types</a:t>
            </a:r>
          </a:p>
          <a:p>
            <a:pPr>
              <a:defRPr sz="1800"/>
            </a:pPr>
            <a:r>
              <a:t>Reduced overfitting via ensemble averaging</a:t>
            </a:r>
          </a:p>
          <a:p>
            <a:pPr>
              <a:defRPr sz="1800"/>
            </a:pPr>
            <a:r>
              <a:t>Excellent performance on structured health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Optimization: Sprint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Method: RandomizedSearchCV (Intensive)</a:t>
            </a:r>
          </a:p>
          <a:p>
            <a:pPr>
              <a:defRPr sz="1800"/>
            </a:pPr>
            <a:r>
              <a:t>Search space: 50 parameter combinations</a:t>
            </a:r>
          </a:p>
          <a:p>
            <a:pPr>
              <a:defRPr sz="1800"/>
            </a:pPr>
            <a:r>
              <a:t>Cross-validation: 5-fold</a:t>
            </a:r>
          </a:p>
          <a:p>
            <a:pPr>
              <a:defRPr sz="1800"/>
            </a:pPr>
            <a:r>
              <a:t>Optimization metric: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Before tuning: ~53% accuracy (Baseline)</a:t>
            </a:r>
          </a:p>
          <a:p>
            <a:pPr>
              <a:defRPr sz="1800"/>
            </a:pPr>
            <a:r>
              <a:t>After tuning: 87.5% accuracy</a:t>
            </a:r>
          </a:p>
          <a:p>
            <a:pPr>
              <a:defRPr sz="1800"/>
            </a:pPr>
            <a:r>
              <a:t>Best parameters: n_estimators=500, criterion='entropy'</a:t>
            </a:r>
          </a:p>
          <a:p>
            <a:pPr>
              <a:defRPr sz="1800"/>
            </a:pPr>
            <a:r>
              <a:t>Improvement: +34% accuracy (due to better data &amp; model)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Pipeline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Feature Engineer (encoding, target creation)</a:t>
            </a:r>
          </a:p>
          <a:p>
            <a:pPr>
              <a:defRPr sz="1800"/>
            </a:pPr>
            <a:r>
              <a:t>2. Feature Selector (20 relevant features)</a:t>
            </a:r>
          </a:p>
          <a:p>
            <a:pPr>
              <a:defRPr sz="1800"/>
            </a:pPr>
            <a:r>
              <a:t>3. Standard Scaler (normalization)</a:t>
            </a:r>
          </a:p>
          <a:p>
            <a:pPr>
              <a:defRPr sz="1800"/>
            </a:pPr>
            <a:r>
              <a:t>4. RandomForest (optimized)</a:t>
            </a:r>
          </a:p>
          <a:p>
            <a:pPr>
              <a:defRPr sz="1800"/>
            </a:pPr>
            <a:r>
              <a:t>Complete pipeline saved as .pkl 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Analysis: Model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SHAP = SHapley Additive exPlanations</a:t>
            </a:r>
          </a:p>
          <a:p>
            <a:pPr>
              <a:defRPr sz="1800"/>
            </a:pPr>
            <a:r>
              <a:t>Explains individual predictions</a:t>
            </a:r>
          </a:p>
          <a:p>
            <a:pPr>
              <a:defRPr sz="1800"/>
            </a:pPr>
            <a:r>
              <a:t>Identifies feature importance</a:t>
            </a:r>
          </a:p>
          <a:p>
            <a:pPr>
              <a:defRPr sz="1800"/>
            </a:pPr>
            <a:r>
              <a:t>Reveals feature interactions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Risk Factors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Blood Sugar Levels (highest impact)</a:t>
            </a:r>
          </a:p>
          <a:p>
            <a:pPr>
              <a:defRPr sz="1800"/>
            </a:pPr>
            <a:r>
              <a:t>2. Age (strong positive correlation)</a:t>
            </a:r>
          </a:p>
          <a:p>
            <a:pPr>
              <a:defRPr sz="1800"/>
            </a:pPr>
            <a:r>
              <a:t>3. Body Mass Index (BMI)</a:t>
            </a:r>
          </a:p>
          <a:p>
            <a:pPr>
              <a:defRPr sz="1800"/>
            </a:pPr>
            <a:r>
              <a:t>4. Systolic Blood Pressure</a:t>
            </a:r>
          </a:p>
          <a:p>
            <a:pPr>
              <a:defRPr sz="1800"/>
            </a:pPr>
            <a:r>
              <a:t>5. Cholesterol Levels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Multi-factorial risk assessment needed</a:t>
            </a:r>
          </a:p>
          <a:p>
            <a:pPr>
              <a:defRPr sz="1800"/>
            </a:pPr>
            <a:r>
              <a:t>Lifestyle interventions can reduce risk</a:t>
            </a:r>
          </a:p>
          <a:p>
            <a:pPr>
              <a:defRPr sz="1800"/>
            </a:pPr>
            <a:r>
              <a:t>Age-specific care protocols recommended</a:t>
            </a:r>
          </a:p>
          <a:p>
            <a:pPr>
              <a:defRPr sz="1800"/>
            </a:pPr>
            <a:r>
              <a:t>Preventive care programs show high ROI potential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Risk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Input: Patient health data (20 features)</a:t>
            </a:r>
          </a:p>
          <a:p>
            <a:pPr>
              <a:defRPr sz="1800"/>
            </a:pPr>
            <a:r>
              <a:t>Processing: Automated pipeline execution</a:t>
            </a:r>
          </a:p>
          <a:p>
            <a:pPr>
              <a:defRPr sz="1800"/>
            </a:pPr>
            <a:r>
              <a:t>Output: Risk classification (High/Low)</a:t>
            </a:r>
          </a:p>
          <a:p>
            <a:pPr>
              <a:defRPr sz="1800"/>
            </a:pPr>
            <a:r>
              <a:t>Confidence: Probability score (0-1)</a:t>
            </a:r>
          </a:p>
          <a:p>
            <a:pPr>
              <a:defRPr sz="1800"/>
            </a:pPr>
            <a:r>
              <a:t>Explanation: Top contributing factors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Patient: 65-year-old male, diabetic, smoker</a:t>
            </a:r>
          </a:p>
          <a:p>
            <a:pPr>
              <a:defRPr sz="1800"/>
            </a:pPr>
            <a:r>
              <a:t>BMI: 32, BP: 160/95, Blood Sugar: 180</a:t>
            </a:r>
          </a:p>
          <a:p>
            <a:pPr>
              <a:defRPr sz="1800"/>
            </a:pPr>
            <a:r>
              <a:t>Prediction: HIGH RISK (92% confidence)</a:t>
            </a:r>
          </a:p>
          <a:p>
            <a:pPr>
              <a:defRPr sz="1800"/>
            </a:pPr>
            <a:r>
              <a:t>Top factors: Age, Diabetes, High BP, BMI</a:t>
            </a:r>
          </a:p>
          <a:p>
            <a:pPr>
              <a:defRPr sz="1800"/>
            </a:pPr>
            <a:r>
              <a:t>Recommendation: Immediate intervention needed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Structured data is essential for model learning</a:t>
            </a:r>
          </a:p>
          <a:p>
            <a:pPr>
              <a:defRPr sz="1800"/>
            </a:pPr>
            <a:r>
              <a:t>Random Forest is superior for complex health data</a:t>
            </a:r>
          </a:p>
          <a:p>
            <a:pPr>
              <a:defRPr sz="1800"/>
            </a:pPr>
            <a:r>
              <a:t>Hyperparameter tuning provides significant gains</a:t>
            </a:r>
          </a:p>
          <a:p>
            <a:pPr>
              <a:defRPr sz="1800"/>
            </a:pPr>
            <a:r>
              <a:t>Balancing data quality and model selection is key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Optimized ML model (AI_Makalu_OptimizedModel.pkl)</a:t>
            </a:r>
          </a:p>
          <a:p>
            <a:pPr>
              <a:defRPr sz="1800"/>
            </a:pPr>
            <a:r>
              <a:t>✓ Complete pipeline code (AI_Makalu_Pipeline.py)</a:t>
            </a:r>
          </a:p>
          <a:p>
            <a:pPr>
              <a:defRPr sz="1800"/>
            </a:pPr>
            <a:r>
              <a:t>✓ Model metadata (AI_Makalu_Model_Metadata.json)</a:t>
            </a:r>
          </a:p>
          <a:p>
            <a:pPr>
              <a:defRPr sz="1800"/>
            </a:pPr>
            <a:r>
              <a:t>✓ SHAP analysis report (AI_Makalu_SHAP_Analysis.docx)</a:t>
            </a:r>
          </a:p>
          <a:p>
            <a:pPr>
              <a:defRPr sz="1800"/>
            </a:pPr>
            <a:r>
              <a:t>✓ Final presentation (AI_Makalu_Final_Presentation.pptx)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  <a:p>
            <a:pPr algn="ctr">
              <a:defRPr sz="3200">
                <a:solidFill>
                  <a:srgbClr val="808080"/>
                </a:solidFill>
              </a:defRPr>
            </a:pPr>
            <a:r>
              <a:t>Team Makalu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